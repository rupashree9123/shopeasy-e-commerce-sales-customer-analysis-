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70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154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ShopEasy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 &amp; Customer Analysis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project using Python, SQL, Power BI &amp; Excel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₹1.80B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20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42976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474720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99,995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5120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orders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42976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217920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5120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0" y="42976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961120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₹18.05K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5120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Project Overview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| E-commerce Sales &amp; Customer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6766560" cy="2791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is an e-commerce analytics project focused on sales, customers, products, order outcomes and geographic performance.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transform raw transactional data into reliable analysis and actionable business insights.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Raw Data → Python/Pandas → SQL Server → Power BI → Insights &amp; Recommendations.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covers customers, products and orders for the 2025 calendar year.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0" y="146304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0" y="1463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33172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229600" y="23317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0" y="320040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229600" y="32004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0" y="406908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229600" y="4069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493776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2E75B6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229600" y="4937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12191999" cy="996696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Dataset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| E-commerce Sales &amp; Customer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408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343400" y="155448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3408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138160" y="155448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23408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orders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74720"/>
            <a:ext cx="11064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contain OrderID, CustomerID, ProductID, OrderDate, Quantity, Discount and Status.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and product tables were used as reference data for validation and analysis.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data cleaning, 99,995 valid orders remained.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Data Cleaning &amp; Validation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| E-commerce Sales &amp; Customer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7315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 and duplicate OrderIDs.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CustomerIDs and ProductIDs against reference tables.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invalid quantity values, including a negative quantity.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discount percentages to numeric values and identified an invalid 150% discount.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OrderDate to a proper date format and handled an invalid date.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inconsistent status values such as 'delivered' to 'Delivered'.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invalid records and saved the cleaned dataset as clean_orders.csv.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219456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503920" y="2286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 → 99,995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orders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SQL Analysis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| E-commerce Sales &amp; Customer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69494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Customers, Products and clean_orders into SQL Server.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order status, monthly order volume and revenue trends.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revenue, Average Order Value and average discount.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top customers and products by revenue and order frequency.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return and cancellation rates by category.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revenue across cities and states.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0" y="196596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229600" y="1965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269748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229600" y="2697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0" y="342900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229600" y="3429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WHEN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0" y="416052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229600" y="4160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/ COUNT / AVG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0" y="489204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0" y="4892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Key Performance Metrics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581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| E-commerce Sales &amp; Customer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26060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₹1.80B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96896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364992" y="1645920"/>
            <a:ext cx="26060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99,995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2596896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1344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181344" y="1645920"/>
            <a:ext cx="26060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198K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181344" y="2596896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97696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997696" y="1645920"/>
            <a:ext cx="26060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₹18.05K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997696" y="2596896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56816" y="3657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956816" y="3749040"/>
            <a:ext cx="26060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7.90%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1956816" y="4700016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73168" y="3657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773168" y="3749040"/>
            <a:ext cx="26060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4.10%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773168" y="4700016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3657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589520" y="3749040"/>
            <a:ext cx="26060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11.50%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4700016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Revenue &amp; Category Performance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| E-commerce Sales &amp; Customer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39" y="4348064"/>
            <a:ext cx="11329229" cy="178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generated approximately ₹1.03 billion, making it the largest revenue-generating category.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generated approximately ₹308.61 million, followed by Sports at ₹147.30 million.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had an Average Order Value of approximately ₹81,169, substantially higher than other categories.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10 revenue-generating products belonged to the Electronics category.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BE007A-BB4F-4E0F-63EA-19274128C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477"/>
            <a:ext cx="6262518" cy="26103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Orders, Returns &amp; Cancellations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| E-commerce Sales &amp; Customer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33460"/>
            <a:ext cx="11064240" cy="19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12% of orders were returned or cancelled.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recorded the highest return rate at 8.19%.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recorded the highest cancellation rate at 4.24%.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differences were relatively small, so return and cancellation drivers should be investigated further.</a:t>
            </a:r>
            <a:endParaRPr lang="en-US" sz="1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7C86B4-B8FB-2194-8EF6-2E0642ABD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94" y="1325881"/>
            <a:ext cx="5898813" cy="22733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Customer Insights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| E-commerce Sales &amp; Customer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18109"/>
            <a:ext cx="11064240" cy="2658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C19073 generated approximately ₹0.93 million from 6 orders, showing that high customer value can come from high transaction values rather than only high order frequency.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C04335 placed the highest number of orders at 18.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top 10 customers each generated more than ₹0.62 million in revenue.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High-value customers can be targeted for retention and loyalty programs.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Frequent buyers can be analyzed to understand repeat-purchase behavior.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Customer revenue depends on both order frequency and transaction value.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F8F0CD-4968-2DE1-FAC1-A4E58A182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66345"/>
            <a:ext cx="5718422" cy="21735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672965-3BBE-6904-2CEB-786FD2C3DAAA}"/>
              </a:ext>
            </a:extLst>
          </p:cNvPr>
          <p:cNvSpPr txBox="1"/>
          <p:nvPr/>
        </p:nvSpPr>
        <p:spPr>
          <a:xfrm>
            <a:off x="0" y="-30641"/>
            <a:ext cx="12204000" cy="111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397400-7179-B91F-7172-F755909F0E01}"/>
              </a:ext>
            </a:extLst>
          </p:cNvPr>
          <p:cNvSpPr txBox="1"/>
          <p:nvPr/>
        </p:nvSpPr>
        <p:spPr>
          <a:xfrm>
            <a:off x="622818" y="3716927"/>
            <a:ext cx="10835174" cy="2373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Delhi recorded the highest state-level revenue at approximately ₹128.77 million.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Lucknow recorded the highest city-level revenue at approximately ₹133.71 million.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Revenue was distributed across multiple states and cities rather than being concentrated in a single market.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Maharashtra and West Bengal were also among the top revenue-generating states.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Chennai and Ahmedabad followed Lucknow among the top cities.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Regional performance can support better marketing and inventory planning.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57F580-FF4A-B705-79E9-75B115F08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7" y="1337359"/>
            <a:ext cx="6428924" cy="22812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65F088-7E1A-875F-93B8-BCEB7BA37A30}"/>
              </a:ext>
            </a:extLst>
          </p:cNvPr>
          <p:cNvSpPr txBox="1"/>
          <p:nvPr/>
        </p:nvSpPr>
        <p:spPr>
          <a:xfrm>
            <a:off x="982824" y="6711820"/>
            <a:ext cx="4292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C31889-2826-0F8D-201E-EDBAF5E95415}"/>
              </a:ext>
            </a:extLst>
          </p:cNvPr>
          <p:cNvSpPr txBox="1"/>
          <p:nvPr/>
        </p:nvSpPr>
        <p:spPr>
          <a:xfrm>
            <a:off x="622817" y="6513234"/>
            <a:ext cx="5265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| E-commerce Sales &amp; Customer Analysis</a:t>
            </a: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FEDD9B-CCF0-E185-AAD7-3C77D5159743}"/>
              </a:ext>
            </a:extLst>
          </p:cNvPr>
          <p:cNvSpPr txBox="1"/>
          <p:nvPr/>
        </p:nvSpPr>
        <p:spPr>
          <a:xfrm>
            <a:off x="472038" y="253873"/>
            <a:ext cx="549955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Insights</a:t>
            </a:r>
          </a:p>
        </p:txBody>
      </p:sp>
    </p:spTree>
    <p:extLst>
      <p:ext uri="{BB962C8B-B14F-4D97-AF65-F5344CB8AC3E}">
        <p14:creationId xmlns:p14="http://schemas.microsoft.com/office/powerpoint/2010/main" val="52009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Power BI Dashboard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64665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| E-commerce Sales &amp; Customer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Revenue, Orders, Quantity, AOV, Return Rate, Cancellation Rate and Average Discount.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line chart.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and Revenue by State.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Status.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and Top 10 Products by Revenue.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for Order Date, Category and Status.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figures were validated against the SQL analysis.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0" y="146304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EEF3F9"/>
          </a:solidFill>
          <a:ln w="12700">
            <a:solidFill>
              <a:srgbClr val="D3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228600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Analysis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Product Analysis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8D351F-EFCF-49F0-8066-320D805EF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192" y="945587"/>
            <a:ext cx="9016244" cy="5604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003E76-9454-94A9-87B2-A5F4B2F55EFD}"/>
              </a:ext>
            </a:extLst>
          </p:cNvPr>
          <p:cNvSpPr txBox="1"/>
          <p:nvPr/>
        </p:nvSpPr>
        <p:spPr>
          <a:xfrm>
            <a:off x="0" y="0"/>
            <a:ext cx="12204000" cy="792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178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Business Insights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| E-commerce Sales &amp; Customer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89888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was the primary revenue driver, supported by its much higher AOV.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167128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remained relatively stable, with July highest at ₹155.91 million and February lowest at ₹142.28 million.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486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944368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orders were delivered successfully; returns and cancellations accounted for 12%.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721608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High-revenue products were concentrated in Electronics, while high-order-frequency products were spread across categories.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498848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was geographically diversified across several states and cities.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486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276088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revenue depended on both purchase frequency and transaction value.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Recommendations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| E-commerce Sales &amp; Customer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0020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Investigate Electronics performance</a:t>
            </a:r>
            <a:br>
              <a:rPr lang="en-IN" sz="1400" dirty="0"/>
            </a:br>
            <a:r>
              <a:rPr lang="en-IN" sz="1400" dirty="0"/>
              <a:t>Analyze pricing, product mix, and customer demand within Electronics to understand the factors contributing to its high revenue and AOV. 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93976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78024"/>
            <a:ext cx="10469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Reduce product returns</a:t>
            </a:r>
            <a:br>
              <a:rPr lang="en-IN" sz="1400" dirty="0"/>
            </a:br>
            <a:r>
              <a:rPr lang="en-IN" sz="1400" dirty="0"/>
              <a:t>Investigate the reasons behind the higher return rate in Beauty and identify potential issues related to product expectations, descriptions, quality, or delivery. 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154680"/>
            <a:ext cx="10469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Investigate cancellations</a:t>
            </a:r>
            <a:br>
              <a:rPr lang="en-IN" sz="1400" dirty="0"/>
            </a:br>
            <a:r>
              <a:rPr lang="en-IN" sz="1400" dirty="0"/>
              <a:t>Review cancellation patterns in Clothing and examine factors such as inventory availability, delivery timelines, pricing, and customer ordering behavior. 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447288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486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721608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Focus on high-value customers</a:t>
            </a:r>
            <a:br>
              <a:rPr lang="en-IN" sz="1400" dirty="0"/>
            </a:br>
            <a:r>
              <a:rPr lang="en-IN" sz="1400" dirty="0"/>
              <a:t>Analyze the characteristics and purchasing patterns of high-revenue customers and consider targeted retention or loyalty initiatives. 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398264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Monitor high-demand products</a:t>
            </a:r>
            <a:br>
              <a:rPr lang="en-IN" sz="1400" dirty="0"/>
            </a:br>
            <a:r>
              <a:rPr lang="en-IN" sz="1400" dirty="0"/>
              <a:t>Track products with high order frequency to support inventory planning and compare their order volume with their actual revenue contribution. 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4864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074920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Use geographic performance for planning</a:t>
            </a:r>
            <a:br>
              <a:rPr lang="en-IN" sz="1400" dirty="0"/>
            </a:br>
            <a:r>
              <a:rPr lang="en-IN" sz="1400" dirty="0"/>
              <a:t>Regional sales patterns can support decisions related to inventory allocation, marketing activities, and logistics planning. 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477256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48640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5751576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Monitor returns and cancellations regularly</a:t>
            </a:r>
            <a:br>
              <a:rPr lang="en-IN" sz="1400" dirty="0"/>
            </a:br>
            <a:r>
              <a:rPr lang="en-IN" sz="1400" dirty="0"/>
              <a:t>Use the Power BI dashboard to track changes in return and cancellation rates by category, product, location, and customer segment.</a:t>
            </a:r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Conclusion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an end-to-end analytics workflow using Python, SQL, Power BI and Excel. Raw e-commerce data was cleaned, analyzed and transformed into an interactive dashboard that highlights revenue, customer, product, order and geographic performance. </a:t>
            </a:r>
            <a:r>
              <a:rPr lang="en-IN" sz="1600" dirty="0">
                <a:solidFill>
                  <a:schemeClr val="bg1"/>
                </a:solidFill>
              </a:rPr>
              <a:t>ShopEasy generated approximately ₹1.80 billion in revenue from 99,995 valid orders during 2025. Electronics was the primary revenue driver, contributing approximately ₹1.03 billion and showing a significantly higher Average Order Value than other categories. Overall delivery performance was 88%, while returns and cancellations accounted for 12% of orders. Beauty recorded the highest return rate and Clothing the highest cancellation rate, providing areas for further operational investigation. The analysis also identified high-value customers, high-performing products, and geographically important markets. Based on these findings, ShopEasy should investigate the drivers of Electronics' performance, reduce avoidable returns and cancellations, strengthen high-value customer retention, improve inventory planning, and use geographic performance to support marketing and logistics decisions.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4984413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4983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4983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4983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40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58A4D4F9-9001-564F-C7F5-4B22CD6813DC}"/>
              </a:ext>
            </a:extLst>
          </p:cNvPr>
          <p:cNvSpPr/>
          <p:nvPr/>
        </p:nvSpPr>
        <p:spPr>
          <a:xfrm>
            <a:off x="792480" y="4984413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51B540E9-37A0-D915-80EA-583C83589490}"/>
              </a:ext>
            </a:extLst>
          </p:cNvPr>
          <p:cNvSpPr txBox="1"/>
          <p:nvPr/>
        </p:nvSpPr>
        <p:spPr>
          <a:xfrm>
            <a:off x="731520" y="5121573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4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D59DD31-D633-FB16-BFE9-56293376CC70}"/>
              </a:ext>
            </a:extLst>
          </p:cNvPr>
          <p:cNvSpPr txBox="1"/>
          <p:nvPr/>
        </p:nvSpPr>
        <p:spPr>
          <a:xfrm>
            <a:off x="762000" y="576258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9C3E3600-0DAC-97B3-065E-F06FDEE2BD6F}"/>
              </a:ext>
            </a:extLst>
          </p:cNvPr>
          <p:cNvSpPr/>
          <p:nvPr/>
        </p:nvSpPr>
        <p:spPr>
          <a:xfrm>
            <a:off x="3474720" y="4984413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85A9C484-0D2F-1626-1334-14FC628F472E}"/>
              </a:ext>
            </a:extLst>
          </p:cNvPr>
          <p:cNvSpPr txBox="1"/>
          <p:nvPr/>
        </p:nvSpPr>
        <p:spPr>
          <a:xfrm>
            <a:off x="3474720" y="5121573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24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0C37C8C4-C641-51C4-8AF1-52D8402FEA03}"/>
              </a:ext>
            </a:extLst>
          </p:cNvPr>
          <p:cNvSpPr txBox="1"/>
          <p:nvPr/>
        </p:nvSpPr>
        <p:spPr>
          <a:xfrm>
            <a:off x="3474720" y="5761653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0F727B6A-ADAD-D197-4979-391893840579}"/>
              </a:ext>
            </a:extLst>
          </p:cNvPr>
          <p:cNvSpPr/>
          <p:nvPr/>
        </p:nvSpPr>
        <p:spPr>
          <a:xfrm>
            <a:off x="6217920" y="4984413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A8D578E0-9C03-6C95-3226-C87AB9497D63}"/>
              </a:ext>
            </a:extLst>
          </p:cNvPr>
          <p:cNvSpPr txBox="1"/>
          <p:nvPr/>
        </p:nvSpPr>
        <p:spPr>
          <a:xfrm>
            <a:off x="6217920" y="5121573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24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E6F9E217-7A0D-323E-8F01-D045A2205E9B}"/>
              </a:ext>
            </a:extLst>
          </p:cNvPr>
          <p:cNvSpPr txBox="1"/>
          <p:nvPr/>
        </p:nvSpPr>
        <p:spPr>
          <a:xfrm>
            <a:off x="6217920" y="5761653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FF4F501C-2735-E0EB-D62B-338811771730}"/>
              </a:ext>
            </a:extLst>
          </p:cNvPr>
          <p:cNvSpPr/>
          <p:nvPr/>
        </p:nvSpPr>
        <p:spPr>
          <a:xfrm>
            <a:off x="8961120" y="4984413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C85569BF-B214-6F53-BE95-C332C11FC0A8}"/>
              </a:ext>
            </a:extLst>
          </p:cNvPr>
          <p:cNvSpPr txBox="1"/>
          <p:nvPr/>
        </p:nvSpPr>
        <p:spPr>
          <a:xfrm>
            <a:off x="8961120" y="5121573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24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DBD3D3B-DC91-7A40-F3DA-DF7044B26691}"/>
              </a:ext>
            </a:extLst>
          </p:cNvPr>
          <p:cNvSpPr txBox="1"/>
          <p:nvPr/>
        </p:nvSpPr>
        <p:spPr>
          <a:xfrm>
            <a:off x="8961120" y="5761653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1304</Words>
  <Application>Microsoft Office PowerPoint</Application>
  <PresentationFormat>Widescreen</PresentationFormat>
  <Paragraphs>188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Rupashree Chatterjee</cp:lastModifiedBy>
  <cp:revision>8</cp:revision>
  <dcterms:created xsi:type="dcterms:W3CDTF">2026-09-30T06:41:57Z</dcterms:created>
  <dcterms:modified xsi:type="dcterms:W3CDTF">2026-10-08T03:38:21Z</dcterms:modified>
</cp:coreProperties>
</file>